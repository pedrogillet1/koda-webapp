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9"/>
  </p:notesMasterIdLst>
  <p:handoutMasterIdLst>
    <p:handoutMasterId r:id="rId10"/>
  </p:handoutMasterIdLst>
  <p:sldIdLst>
    <p:sldId id="256" r:id="rId2"/>
    <p:sldId id="322" r:id="rId3"/>
    <p:sldId id="336" r:id="rId4"/>
    <p:sldId id="337" r:id="rId5"/>
    <p:sldId id="338" r:id="rId6"/>
    <p:sldId id="323" r:id="rId7"/>
    <p:sldId id="304" r:id="rId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66"/>
    <a:srgbClr val="FE9202"/>
    <a:srgbClr val="FFFF66"/>
    <a:srgbClr val="CCCC00"/>
    <a:srgbClr val="5EEC3C"/>
    <a:srgbClr val="007033"/>
    <a:srgbClr val="990099"/>
    <a:srgbClr val="CC0099"/>
    <a:srgbClr val="6C1A00"/>
    <a:srgbClr val="00A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 varScale="1">
        <p:scale>
          <a:sx n="108" d="100"/>
          <a:sy n="108" d="100"/>
        </p:scale>
        <p:origin x="730" y="8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9AD48D-5804-4151-867F-EDA963935F60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16F80A-C237-4CEC-83F0-A85BFE6A1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1497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2E370-9BE7-427F-B73F-359EA0922C5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D1955-3794-46D5-A564-B46431CFD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883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D1955-3794-46D5-A564-B46431CFDE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64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2914650"/>
            <a:ext cx="6858000" cy="74295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3843338"/>
            <a:ext cx="6858000" cy="40005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4766310"/>
            <a:ext cx="2286000" cy="274320"/>
          </a:xfrm>
        </p:spPr>
        <p:txBody>
          <a:bodyPr/>
          <a:lstStyle>
            <a:lvl1pPr>
              <a:defRPr sz="1400"/>
            </a:lvl1pPr>
          </a:lstStyle>
          <a:p>
            <a:fld id="{E5D46192-1431-4629-942E-AF296AEB404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4766310"/>
            <a:ext cx="3474720" cy="274320"/>
          </a:xfrm>
        </p:spPr>
        <p:txBody>
          <a:bodyPr/>
          <a:lstStyle/>
          <a:p>
            <a:r>
              <a:rPr lang="en-IN" b="1" cap="all"/>
              <a:t>SUMMER SCHOOL 2019 :URBAN DATA SCIENCE</a:t>
            </a:r>
            <a:endParaRPr lang="en-IN" b="1" cap="all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4766310"/>
            <a:ext cx="1219200" cy="274320"/>
          </a:xfrm>
        </p:spPr>
        <p:txBody>
          <a:bodyPr/>
          <a:lstStyle/>
          <a:p>
            <a:r>
              <a:rPr lang="en-IN" b="1" cap="all"/>
              <a:t>  FELIX EMEKA ANYIAM |SHAILY RAJU GANDHI</a:t>
            </a:r>
            <a:endParaRPr lang="en-IN" b="1" cap="all" dirty="0"/>
          </a:p>
        </p:txBody>
      </p:sp>
      <p:sp>
        <p:nvSpPr>
          <p:cNvPr id="21" name="Rectangle 20"/>
          <p:cNvSpPr/>
          <p:nvPr/>
        </p:nvSpPr>
        <p:spPr>
          <a:xfrm>
            <a:off x="904875" y="2736056"/>
            <a:ext cx="7315200" cy="96012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3786188"/>
            <a:ext cx="7315200" cy="51435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2736056"/>
            <a:ext cx="228600" cy="96012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3786188"/>
            <a:ext cx="228600" cy="51435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46192-1431-4629-942E-AF296AEB404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cap="all"/>
              <a:t>SUMMER SCHOOL 2019 :URBAN DATA SCIENCE</a:t>
            </a:r>
            <a:endParaRPr lang="en-IN" b="1" cap="al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b="1" cap="all"/>
              <a:t>  FELIX EMEKA ANYIAM |SHAILY RAJU GANDHI</a:t>
            </a:r>
            <a:endParaRPr lang="en-IN" b="1" cap="all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370332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228850"/>
            <a:ext cx="6858000" cy="8001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3200400"/>
            <a:ext cx="6781800" cy="85725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4766310"/>
            <a:ext cx="2286000" cy="274320"/>
          </a:xfrm>
        </p:spPr>
        <p:txBody>
          <a:bodyPr/>
          <a:lstStyle/>
          <a:p>
            <a:fld id="{E5D46192-1431-4629-942E-AF296AEB404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4766310"/>
            <a:ext cx="3474720" cy="274320"/>
          </a:xfrm>
        </p:spPr>
        <p:txBody>
          <a:bodyPr/>
          <a:lstStyle/>
          <a:p>
            <a:r>
              <a:rPr lang="en-IN" b="1" cap="all"/>
              <a:t>SUMMER SCHOOL 2019 :URBAN DATA SCIENCE</a:t>
            </a:r>
            <a:endParaRPr lang="en-IN" b="1" cap="al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4766310"/>
            <a:ext cx="1520952" cy="274320"/>
          </a:xfrm>
        </p:spPr>
        <p:txBody>
          <a:bodyPr/>
          <a:lstStyle/>
          <a:p>
            <a:r>
              <a:rPr lang="en-IN" b="1" cap="all"/>
              <a:t>  FELIX EMEKA ANYIAM |SHAILY RAJU GANDHI</a:t>
            </a:r>
            <a:endParaRPr lang="en-IN" b="1" cap="all" dirty="0"/>
          </a:p>
        </p:txBody>
      </p:sp>
      <p:sp>
        <p:nvSpPr>
          <p:cNvPr id="7" name="Rectangle 6"/>
          <p:cNvSpPr/>
          <p:nvPr/>
        </p:nvSpPr>
        <p:spPr>
          <a:xfrm>
            <a:off x="914400" y="2114550"/>
            <a:ext cx="7315200" cy="96012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114550"/>
            <a:ext cx="228600" cy="96012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46192-1431-4629-942E-AF296AEB404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cap="all"/>
              <a:t>SUMMER SCHOOL 2019 :URBAN DATA SCIENCE</a:t>
            </a:r>
            <a:endParaRPr lang="en-IN" b="1" cap="al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b="1" cap="all"/>
              <a:t>  FELIX EMEKA ANYIAM |SHAILY RAJU GANDHI</a:t>
            </a:r>
            <a:endParaRPr lang="en-IN" b="1" cap="all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4041648" cy="370332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912114"/>
            <a:ext cx="4041648" cy="370332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64406"/>
            <a:ext cx="4040188" cy="51435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1" y="971550"/>
            <a:ext cx="4041775" cy="51435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46192-1431-4629-942E-AF296AEB404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cap="all"/>
              <a:t>SUMMER SCHOOL 2019 :URBAN DATA SCIENCE</a:t>
            </a:r>
            <a:endParaRPr lang="en-IN" b="1" cap="al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b="1" cap="all"/>
              <a:t>  FELIX EMEKA ANYIAM |SHAILY RAJU GANDHI</a:t>
            </a:r>
            <a:endParaRPr lang="en-IN" b="1" cap="all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1600200"/>
            <a:ext cx="4038600" cy="302895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1600200"/>
            <a:ext cx="4038600" cy="302895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46192-1431-4629-942E-AF296AEB404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cap="all"/>
              <a:t>SUMMER SCHOOL 2019 :URBAN DATA SCIENCE</a:t>
            </a:r>
            <a:endParaRPr lang="en-IN" b="1" cap="al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b="1" cap="all"/>
              <a:t>  FELIX EMEKA ANYIAM |SHAILY RAJU GANDHI</a:t>
            </a:r>
            <a:endParaRPr lang="en-IN" b="1" cap="all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46192-1431-4629-942E-AF296AEB404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cap="all"/>
              <a:t>SUMMER SCHOOL 2019 :URBAN DATA SCIENCE</a:t>
            </a:r>
            <a:endParaRPr lang="en-IN" b="1" cap="al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b="1" cap="all"/>
              <a:t>  FELIX EMEKA ANYIAM |SHAILY RAJU GANDHI</a:t>
            </a:r>
            <a:endParaRPr lang="en-IN" b="1" cap="all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228600"/>
            <a:ext cx="2514600" cy="62865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914401"/>
            <a:ext cx="2514600" cy="3632597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46192-1431-4629-942E-AF296AEB404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cap="all"/>
              <a:t>SUMMER SCHOOL 2019 :URBAN DATA SCIENCE</a:t>
            </a:r>
            <a:endParaRPr lang="en-IN" b="1" cap="al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b="1" cap="all"/>
              <a:t>  FELIX EMEKA ANYIAM |SHAILY RAJU GANDHI</a:t>
            </a:r>
            <a:endParaRPr lang="en-IN" b="1" cap="all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915025" y="2493169"/>
            <a:ext cx="452628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5715000" cy="428625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5642"/>
            <a:ext cx="8229600" cy="506016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428750"/>
            <a:ext cx="8229600" cy="3202686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914400"/>
            <a:ext cx="8229600" cy="40005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46192-1431-4629-942E-AF296AEB404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cap="all"/>
              <a:t>SUMMER SCHOOL 2019 :URBAN DATA SCIENCE</a:t>
            </a:r>
            <a:endParaRPr lang="en-IN" b="1" cap="al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b="1" cap="all"/>
              <a:t>  FELIX EMEKA ANYIAM |SHAILY RAJU GANDHI</a:t>
            </a:r>
            <a:endParaRPr lang="en-IN" b="1" cap="all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375642"/>
            <a:ext cx="182880" cy="51435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46192-1431-4629-942E-AF296AEB404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cap="all"/>
              <a:t>SUMMER SCHOOL 2019 :URBAN DATA SCIENCE</a:t>
            </a:r>
            <a:endParaRPr lang="en-IN" b="1" cap="al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b="1" cap="all"/>
              <a:t>  FELIX EMEKA ANYIAM |SHAILY RAJU GANDHI</a:t>
            </a:r>
            <a:endParaRPr lang="en-IN" b="1" cap="al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46192-1431-4629-942E-AF296AEB404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cap="all"/>
              <a:t>SUMMER SCHOOL 2019 :URBAN DATA SCIENCE</a:t>
            </a:r>
            <a:endParaRPr lang="en-IN" b="1" cap="al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b="1" cap="all"/>
              <a:t>  FELIX EMEKA ANYIAM |SHAILY RAJU GANDHI</a:t>
            </a:r>
            <a:endParaRPr lang="en-IN" b="1" cap="all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4361127" y="2401464"/>
            <a:ext cx="438912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74295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914400"/>
            <a:ext cx="8229600" cy="368274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4767263"/>
            <a:ext cx="2289048" cy="27432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5D46192-1431-4629-942E-AF296AEB404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4767263"/>
            <a:ext cx="3505200" cy="27432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IN" b="1" cap="all"/>
              <a:t>SUMMER SCHOOL 2019 :URBAN DATA SCIENCE</a:t>
            </a:r>
            <a:endParaRPr lang="en-IN" b="1" cap="all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4767263"/>
            <a:ext cx="1981200" cy="27432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IN" b="1" cap="all"/>
              <a:t>  FELIX EMEKA ANYIAM |SHAILY RAJU GANDHI</a:t>
            </a:r>
            <a:endParaRPr lang="en-IN" b="1" cap="all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85725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elix.emeka.anyiam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hyperlink" Target="http://orcid.org/0000-0003-2774-7406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pload.wikimedia.org/wikipedia/commons/8/8c/Dice_sum_central_limit_theorem.svg" TargetMode="External"/><Relationship Id="rId2" Type="http://schemas.openxmlformats.org/officeDocument/2006/relationships/hyperlink" Target="https://en.wikipedia.org/wiki/File:Dice_sum_central_limit_theorem.svg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pload.wikimedia.org/wikipedia/commons/f/f8/Negative_and_positive_skew_diagrams_(English).svg" TargetMode="External"/><Relationship Id="rId2" Type="http://schemas.openxmlformats.org/officeDocument/2006/relationships/hyperlink" Target="https://en.wikipedia.org/wiki/File:Negative_and_positive_skew_diagrams_(English).svg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orcid.org/0000-0003-2774-7406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orcid.org/0000-0003-2774-7406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orcid.org/0000-0003-2774-740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7080" y="1761551"/>
            <a:ext cx="7329840" cy="810199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Epi-Info Essentials: </a:t>
            </a:r>
            <a:r>
              <a:rPr lang="en-US" sz="2400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Simple, Powerful Tool for Smarter Data Work</a:t>
            </a:r>
            <a:endParaRPr lang="en-US" sz="2400" dirty="0">
              <a:solidFill>
                <a:srgbClr val="FFCC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12490" y="2724455"/>
            <a:ext cx="7024430" cy="1902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Felix 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Emeka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Anyiam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>
              <a:spcBef>
                <a:spcPct val="20000"/>
              </a:spcBef>
            </a:pPr>
            <a:r>
              <a:rPr lang="en-US" sz="11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MPH (EUCLID, CAR), MSC.PH (UNIPORT), Data Science (Trieste, Italy), Ph.D. (DUT, SA)</a:t>
            </a:r>
          </a:p>
          <a:p>
            <a:pPr algn="ctr">
              <a:spcBef>
                <a:spcPct val="20000"/>
              </a:spcBef>
            </a:pPr>
            <a:endParaRPr lang="en-US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0" fontAlgn="base" hangingPunct="0"/>
            <a:endParaRPr 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 2"/>
            </a:endParaRPr>
          </a:p>
          <a:p>
            <a:pPr eaLnBrk="0" fontAlgn="base" hangingPunct="0"/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/>
              </a:rPr>
              <a:t>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+234.806.499.5462 </a:t>
            </a:r>
          </a:p>
          <a:p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</a:t>
            </a:r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sz="1400" b="1" dirty="0">
                <a:hlinkClick r:id="rId3"/>
              </a:rPr>
              <a:t>felix.emeka.anyiam@gmail.com</a:t>
            </a:r>
            <a:r>
              <a:rPr lang="en-US" sz="1400" b="1" dirty="0"/>
              <a:t>  </a:t>
            </a:r>
            <a:r>
              <a:rPr lang="pt-PT" sz="1400" b="1" dirty="0">
                <a:sym typeface="Webdings"/>
              </a:rPr>
              <a:t></a:t>
            </a:r>
            <a:r>
              <a:rPr lang="pt-PT" sz="1400" b="1" dirty="0"/>
              <a:t>  </a:t>
            </a:r>
            <a:r>
              <a:rPr lang="en-US" sz="1400" b="1" u="sng" dirty="0">
                <a:hlinkClick r:id="rId4"/>
              </a:rPr>
              <a:t>http://orcid.org/0000-0003-2774-7406</a:t>
            </a:r>
            <a:r>
              <a:rPr lang="en-US" sz="1400" b="1" u="sng" dirty="0"/>
              <a:t> </a:t>
            </a:r>
            <a:r>
              <a:rPr lang="en-US" sz="1400" b="1" dirty="0"/>
              <a:t> </a:t>
            </a:r>
          </a:p>
          <a:p>
            <a:pPr algn="ctr">
              <a:spcBef>
                <a:spcPct val="20000"/>
              </a:spcBef>
            </a:pPr>
            <a:endPara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2" descr="https://blog.aau.org/wp-content/uploads/2018/08/INASP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59" y="136254"/>
            <a:ext cx="3970331" cy="138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9ADE00-9894-4C7E-9A28-D366C224FE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7165" y="152378"/>
            <a:ext cx="2371484" cy="99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60" y="0"/>
            <a:ext cx="8551479" cy="5037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8435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43555" y="1502816"/>
            <a:ext cx="3008313" cy="1068935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Normally Distributed Data</a:t>
            </a:r>
          </a:p>
        </p:txBody>
      </p:sp>
      <p:sp>
        <p:nvSpPr>
          <p:cNvPr id="5" name="Text Placeholder 3"/>
          <p:cNvSpPr txBox="1">
            <a:spLocks/>
          </p:cNvSpPr>
          <p:nvPr/>
        </p:nvSpPr>
        <p:spPr>
          <a:xfrm>
            <a:off x="143555" y="3793391"/>
            <a:ext cx="3008313" cy="495823"/>
          </a:xfrm>
          <a:prstGeom prst="rect">
            <a:avLst/>
          </a:prstGeom>
        </p:spPr>
        <p:txBody>
          <a:bodyPr>
            <a:normAutofit fontScale="40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Image source: </a:t>
            </a:r>
            <a:r>
              <a:rPr lang="en-US" u="sng">
                <a:hlinkClick r:id="rId2"/>
              </a:rPr>
              <a:t>https://en.wikipedia.org/wiki/File:Dice_sum_central_limit_theorem.svg</a:t>
            </a:r>
            <a:endParaRPr lang="en-US"/>
          </a:p>
          <a:p>
            <a:endParaRPr lang="en-US" dirty="0"/>
          </a:p>
        </p:txBody>
      </p:sp>
      <p:pic>
        <p:nvPicPr>
          <p:cNvPr id="8" name="Content Placeholder 6" descr="File:Dice sum central limit theorem.svg">
            <a:hlinkClick r:id="rId3"/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065" y="281175"/>
            <a:ext cx="5191970" cy="41230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27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43555" y="1350110"/>
            <a:ext cx="3664920" cy="2595985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500" dirty="0">
                <a:solidFill>
                  <a:srgbClr val="FF0000"/>
                </a:solidFill>
              </a:rPr>
              <a:t>1.</a:t>
            </a:r>
            <a:r>
              <a:rPr lang="en-US" sz="1500" dirty="0"/>
              <a:t> A skew (&gt; +1) = high degree of positive skew</a:t>
            </a:r>
            <a:br>
              <a:rPr lang="en-US" sz="1500" dirty="0"/>
            </a:br>
            <a:br>
              <a:rPr lang="en-US" sz="1500" dirty="0"/>
            </a:br>
            <a:r>
              <a:rPr lang="en-US" sz="1500" dirty="0">
                <a:solidFill>
                  <a:srgbClr val="FF0000"/>
                </a:solidFill>
              </a:rPr>
              <a:t>2.</a:t>
            </a:r>
            <a:r>
              <a:rPr lang="en-US" sz="1500" dirty="0"/>
              <a:t> A skew (&lt; -1) = high degree of negative skew</a:t>
            </a:r>
            <a:br>
              <a:rPr lang="en-US" sz="1500" dirty="0"/>
            </a:br>
            <a:br>
              <a:rPr lang="en-US" sz="1500" dirty="0"/>
            </a:br>
            <a:r>
              <a:rPr lang="en-US" sz="1500" dirty="0">
                <a:solidFill>
                  <a:srgbClr val="FF0000"/>
                </a:solidFill>
              </a:rPr>
              <a:t>3.</a:t>
            </a:r>
            <a:r>
              <a:rPr lang="en-US" sz="1500" dirty="0"/>
              <a:t> A skew (between -1 and +1, </a:t>
            </a:r>
            <a:r>
              <a:rPr lang="en-US" sz="1500" i="1" dirty="0">
                <a:solidFill>
                  <a:srgbClr val="FF0000"/>
                </a:solidFill>
              </a:rPr>
              <a:t>near to zero</a:t>
            </a:r>
            <a:r>
              <a:rPr lang="en-US" sz="1500" dirty="0"/>
              <a:t>) = symmetric data set</a:t>
            </a:r>
            <a:br>
              <a:rPr lang="en-US" sz="1500" dirty="0"/>
            </a:br>
            <a:br>
              <a:rPr lang="en-US" sz="1500" dirty="0"/>
            </a:br>
            <a:r>
              <a:rPr lang="en-US" sz="1500" dirty="0"/>
              <a:t>Kurtosis: </a:t>
            </a:r>
            <a:r>
              <a:rPr lang="en-US" sz="1500" dirty="0">
                <a:solidFill>
                  <a:srgbClr val="FF0000"/>
                </a:solidFill>
              </a:rPr>
              <a:t>(-2 and + 2)</a:t>
            </a:r>
            <a:br>
              <a:rPr lang="en-US" sz="1500" dirty="0">
                <a:solidFill>
                  <a:srgbClr val="FF0000"/>
                </a:solidFill>
              </a:rPr>
            </a:b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5" name="Text Placeholder 3"/>
          <p:cNvSpPr txBox="1">
            <a:spLocks/>
          </p:cNvSpPr>
          <p:nvPr/>
        </p:nvSpPr>
        <p:spPr>
          <a:xfrm>
            <a:off x="98469" y="4098800"/>
            <a:ext cx="3206805" cy="610820"/>
          </a:xfrm>
          <a:prstGeom prst="rect">
            <a:avLst/>
          </a:prstGeom>
        </p:spPr>
        <p:txBody>
          <a:bodyPr>
            <a:normAutofit fontScale="3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Image source: </a:t>
            </a:r>
            <a:r>
              <a:rPr lang="en-US" u="sng" dirty="0">
                <a:hlinkClick r:id="rId2"/>
              </a:rPr>
              <a:t>https://en.wikipedia.org/wiki/File:Negative_and_positive_skew_diagrams_(English).svg</a:t>
            </a:r>
            <a:endParaRPr lang="en-US" dirty="0"/>
          </a:p>
          <a:p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43554" y="128470"/>
            <a:ext cx="7787955" cy="6108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General Measures of </a:t>
            </a:r>
            <a:r>
              <a:rPr lang="en-US" sz="3200" dirty="0" err="1">
                <a:solidFill>
                  <a:schemeClr val="tx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Skewness</a:t>
            </a:r>
            <a:endParaRPr lang="en-US" sz="3200" dirty="0">
              <a:solidFill>
                <a:schemeClr val="tx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9" name="Content Placeholder 8" descr="File:Negative and positive skew diagrams (English).svg">
            <a:hlinkClick r:id="rId3"/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531" y="2113635"/>
            <a:ext cx="4840891" cy="198516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12648" y="4767263"/>
            <a:ext cx="6708042" cy="274320"/>
          </a:xfrm>
        </p:spPr>
        <p:txBody>
          <a:bodyPr/>
          <a:lstStyle/>
          <a:p>
            <a:r>
              <a:rPr lang="en-IN" b="1" cap="all" dirty="0"/>
              <a:t>  FELIX EMEKA ANYIAM | </a:t>
            </a:r>
            <a:r>
              <a:rPr lang="pt-PT" b="1" dirty="0">
                <a:sym typeface="Webdings"/>
              </a:rPr>
              <a:t></a:t>
            </a:r>
            <a:r>
              <a:rPr lang="pt-PT" b="1" dirty="0"/>
              <a:t>  </a:t>
            </a:r>
            <a:r>
              <a:rPr lang="en-US" b="1" u="sng" dirty="0">
                <a:hlinkClick r:id="rId5"/>
              </a:rPr>
              <a:t>http://orcid.org/0000-0003-2774-7406</a:t>
            </a:r>
            <a:r>
              <a:rPr lang="en-US" b="1" u="sng" dirty="0"/>
              <a:t> </a:t>
            </a:r>
            <a:endParaRPr lang="en-IN" b="1" cap="all" dirty="0"/>
          </a:p>
        </p:txBody>
      </p:sp>
    </p:spTree>
    <p:extLst>
      <p:ext uri="{BB962C8B-B14F-4D97-AF65-F5344CB8AC3E}">
        <p14:creationId xmlns:p14="http://schemas.microsoft.com/office/powerpoint/2010/main" val="2226072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43555" y="-24235"/>
            <a:ext cx="8551480" cy="10689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Normality using </a:t>
            </a:r>
            <a:r>
              <a:rPr lang="en-US" sz="2800" dirty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Shapiro-</a:t>
            </a:r>
            <a:r>
              <a:rPr lang="en-US" sz="2800" dirty="0" err="1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Wilk</a:t>
            </a:r>
            <a:r>
              <a:rPr lang="en-US" sz="2800" dirty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Normality test </a:t>
            </a:r>
            <a:r>
              <a:rPr lang="en-US" sz="2800" dirty="0">
                <a:solidFill>
                  <a:schemeClr val="tx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using SPSS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808474" y="1044700"/>
            <a:ext cx="5039265" cy="366492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SPSS will give you 2 forms: (a) The </a:t>
            </a:r>
            <a:r>
              <a:rPr lang="en-US" dirty="0" err="1"/>
              <a:t>kolmogorov</a:t>
            </a:r>
            <a:r>
              <a:rPr lang="en-US" dirty="0"/>
              <a:t>-Smirnov Test and (b) Shapiro-</a:t>
            </a:r>
            <a:r>
              <a:rPr lang="en-US" dirty="0" err="1"/>
              <a:t>Wilk</a:t>
            </a:r>
            <a:r>
              <a:rPr lang="en-US" dirty="0"/>
              <a:t> Test.</a:t>
            </a:r>
          </a:p>
          <a:p>
            <a:pPr algn="just"/>
            <a:r>
              <a:rPr lang="en-US" dirty="0"/>
              <a:t>Shapiro-</a:t>
            </a:r>
            <a:r>
              <a:rPr lang="en-US" dirty="0" err="1"/>
              <a:t>Wilk</a:t>
            </a:r>
            <a:r>
              <a:rPr lang="en-US" dirty="0"/>
              <a:t> Test is more appropriate as it can handle sizes from 50-2000.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INTERPRETATION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P-value &gt;0.05</a:t>
            </a:r>
            <a:r>
              <a:rPr lang="en-US" dirty="0"/>
              <a:t>, the data is Normal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P-value ≤ 0.05</a:t>
            </a:r>
            <a:r>
              <a:rPr lang="en-US" dirty="0"/>
              <a:t>, the data significantly deviates from a normal distribution</a:t>
            </a: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296260" y="1197405"/>
            <a:ext cx="3512215" cy="3512215"/>
          </a:xfrm>
          <a:prstGeom prst="rect">
            <a:avLst/>
          </a:prstGeom>
        </p:spPr>
        <p:txBody>
          <a:bodyPr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 </a:t>
            </a:r>
            <a:r>
              <a:rPr lang="en-US" sz="2400" b="1" dirty="0"/>
              <a:t>Methods</a:t>
            </a:r>
            <a:r>
              <a:rPr lang="en-US" sz="2400" dirty="0"/>
              <a:t>:</a:t>
            </a:r>
            <a:br>
              <a:rPr lang="en-US" sz="2000" dirty="0"/>
            </a:br>
            <a:r>
              <a:rPr lang="en-US" sz="1800" dirty="0"/>
              <a:t>1. Numerical</a:t>
            </a:r>
            <a:br>
              <a:rPr lang="en-US" sz="1800" dirty="0"/>
            </a:br>
            <a:r>
              <a:rPr lang="en-US" sz="1800" dirty="0"/>
              <a:t>2. Graphical</a:t>
            </a:r>
          </a:p>
          <a:p>
            <a:endParaRPr lang="en-US" sz="1800" dirty="0"/>
          </a:p>
          <a:p>
            <a:r>
              <a:rPr lang="en-US" sz="1800" dirty="0"/>
              <a:t>Analyze </a:t>
            </a:r>
            <a:r>
              <a:rPr lang="en-US" sz="1800" b="1" dirty="0"/>
              <a:t>&gt; </a:t>
            </a:r>
            <a:r>
              <a:rPr lang="en-US" sz="1800" dirty="0"/>
              <a:t>Descriptive Statistics </a:t>
            </a:r>
            <a:r>
              <a:rPr lang="en-US" sz="1800" b="1" dirty="0"/>
              <a:t>&gt;</a:t>
            </a:r>
            <a:r>
              <a:rPr lang="en-US" sz="1800" dirty="0"/>
              <a:t> Explore </a:t>
            </a:r>
            <a:r>
              <a:rPr lang="en-US" sz="1800" b="1" dirty="0"/>
              <a:t>&gt;</a:t>
            </a:r>
            <a:r>
              <a:rPr lang="en-US" sz="1800" dirty="0"/>
              <a:t> Add your dependent variables (continuous) </a:t>
            </a:r>
            <a:r>
              <a:rPr lang="en-US" sz="1800" b="1" dirty="0"/>
              <a:t>&gt;</a:t>
            </a:r>
            <a:r>
              <a:rPr lang="en-US" sz="1800" dirty="0"/>
              <a:t> Set the Confidence Interval (CI) @ 95% &gt; Select the ‘</a:t>
            </a:r>
            <a:r>
              <a:rPr lang="en-US" sz="1800" i="1" dirty="0"/>
              <a:t>normality plots with tests</a:t>
            </a:r>
            <a:r>
              <a:rPr lang="en-US" sz="1800" dirty="0"/>
              <a:t>’.</a:t>
            </a:r>
          </a:p>
          <a:p>
            <a:endParaRPr lang="en-US" sz="1800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12648" y="4767263"/>
            <a:ext cx="6708042" cy="274320"/>
          </a:xfrm>
        </p:spPr>
        <p:txBody>
          <a:bodyPr/>
          <a:lstStyle/>
          <a:p>
            <a:r>
              <a:rPr lang="en-IN" b="1" cap="all" dirty="0"/>
              <a:t>  FELIX EMEKA ANYIAM | </a:t>
            </a:r>
            <a:r>
              <a:rPr lang="pt-PT" b="1" dirty="0">
                <a:sym typeface="Webdings"/>
              </a:rPr>
              <a:t></a:t>
            </a:r>
            <a:r>
              <a:rPr lang="pt-PT" b="1" dirty="0"/>
              <a:t>  </a:t>
            </a:r>
            <a:r>
              <a:rPr lang="en-US" b="1" u="sng" dirty="0">
                <a:hlinkClick r:id="rId2"/>
              </a:rPr>
              <a:t>http://orcid.org/0000-0003-2774-7406</a:t>
            </a:r>
            <a:r>
              <a:rPr lang="en-US" b="1" u="sng" dirty="0"/>
              <a:t> </a:t>
            </a:r>
            <a:endParaRPr lang="en-IN" b="1" cap="all" dirty="0"/>
          </a:p>
        </p:txBody>
      </p:sp>
    </p:spTree>
    <p:extLst>
      <p:ext uri="{BB962C8B-B14F-4D97-AF65-F5344CB8AC3E}">
        <p14:creationId xmlns:p14="http://schemas.microsoft.com/office/powerpoint/2010/main" val="1536908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319655" y="93578"/>
            <a:ext cx="4295775" cy="73279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ea typeface="Calibri"/>
                <a:cs typeface="Times New Roman"/>
              </a:rPr>
              <a:t>Statistical Test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ea typeface="Calibri"/>
                <a:cs typeface="Times New Roman"/>
              </a:rPr>
              <a:t>(Test of Association)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35050" y="939218"/>
            <a:ext cx="2207895" cy="7926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ea typeface="Calibri"/>
                <a:cs typeface="Times New Roman"/>
              </a:rPr>
              <a:t>Differences in Means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effectLst/>
                <a:ea typeface="Calibri"/>
                <a:cs typeface="Times New Roman"/>
              </a:rPr>
              <a:t>[Parametric]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07390" y="1896343"/>
            <a:ext cx="1009015" cy="52270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effectLst/>
                <a:ea typeface="Calibri"/>
                <a:cs typeface="Times New Roman"/>
              </a:rPr>
              <a:t>Two Means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effectLst/>
                <a:ea typeface="Calibri"/>
                <a:cs typeface="Times New Roman"/>
              </a:rPr>
              <a:t> 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4432300" y="854308"/>
            <a:ext cx="8255" cy="2673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15665" y="1128628"/>
            <a:ext cx="2164715" cy="60325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545454"/>
                </a:solidFill>
                <a:effectLst/>
                <a:latin typeface="Arial"/>
                <a:ea typeface="Calibri"/>
                <a:cs typeface="Times New Roman"/>
              </a:rPr>
              <a:t> </a:t>
            </a:r>
            <a:r>
              <a:rPr lang="en-US" sz="1400" b="1">
                <a:effectLst/>
                <a:ea typeface="Calibri"/>
                <a:cs typeface="Times New Roman"/>
              </a:rPr>
              <a:t>Differences in Medians</a:t>
            </a:r>
            <a:endParaRPr lang="en-US" sz="1100">
              <a:effectLst/>
              <a:ea typeface="Calibri"/>
              <a:cs typeface="Times New Roman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effectLst/>
                <a:ea typeface="Calibri"/>
                <a:cs typeface="Times New Roman"/>
              </a:rPr>
              <a:t>[Non Parametric]</a:t>
            </a:r>
            <a:endParaRPr lang="en-US" sz="1100">
              <a:effectLst/>
              <a:ea typeface="Calibri"/>
              <a:cs typeface="Times New Roman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848350" y="1044700"/>
            <a:ext cx="2285365" cy="68717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545454"/>
                </a:solidFill>
                <a:effectLst/>
                <a:latin typeface="Arial"/>
                <a:ea typeface="Calibri"/>
                <a:cs typeface="Times New Roman"/>
              </a:rPr>
              <a:t> </a:t>
            </a:r>
            <a:r>
              <a:rPr lang="en-US" sz="1400" b="1" dirty="0">
                <a:effectLst/>
                <a:ea typeface="Calibri"/>
                <a:cs typeface="Times New Roman"/>
              </a:rPr>
              <a:t>Differences in Proportions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effectLst/>
                <a:ea typeface="Calibri"/>
                <a:cs typeface="Times New Roman"/>
              </a:rPr>
              <a:t>[Both]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871345" y="1896343"/>
            <a:ext cx="1370965" cy="52270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>
                <a:effectLst/>
                <a:ea typeface="Calibri"/>
                <a:cs typeface="Times New Roman"/>
              </a:rPr>
              <a:t>3 or more Means</a:t>
            </a:r>
            <a:endParaRPr lang="en-US" sz="1100">
              <a:effectLst/>
              <a:ea typeface="Calibri"/>
              <a:cs typeface="Times New Roman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>
                <a:effectLst/>
                <a:ea typeface="Calibri"/>
                <a:cs typeface="Times New Roman"/>
              </a:rPr>
              <a:t>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074" y="3919453"/>
            <a:ext cx="1009015" cy="4654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effectLst/>
                <a:ea typeface="Calibri"/>
                <a:cs typeface="Times New Roman"/>
              </a:rPr>
              <a:t>Dependent (Paired)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effectLst/>
                <a:ea typeface="Calibri"/>
                <a:cs typeface="Times New Roman"/>
              </a:rPr>
              <a:t> 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88035" y="2611988"/>
            <a:ext cx="1075054" cy="53721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effectLst/>
                <a:ea typeface="Calibri"/>
                <a:cs typeface="Times New Roman"/>
              </a:rPr>
              <a:t>Independent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ea typeface="Calibri"/>
                <a:cs typeface="Times New Roman"/>
              </a:rPr>
              <a:t> 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23290" y="3285088"/>
            <a:ext cx="870585" cy="4654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000" b="1">
                <a:effectLst/>
                <a:ea typeface="Calibri"/>
                <a:cs typeface="Times New Roman"/>
              </a:rPr>
              <a:t>Student T-test</a:t>
            </a:r>
            <a:endParaRPr lang="en-US" sz="1100">
              <a:effectLst/>
              <a:ea typeface="Calibri"/>
              <a:cs typeface="Times New Roman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23290" y="4416551"/>
            <a:ext cx="870585" cy="6121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000" b="1" dirty="0">
                <a:effectLst/>
                <a:ea typeface="Calibri"/>
                <a:cs typeface="Times New Roman"/>
              </a:rPr>
              <a:t>Paired Student T-test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957705" y="2611988"/>
            <a:ext cx="1086485" cy="6203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effectLst/>
                <a:ea typeface="Calibri"/>
                <a:cs typeface="Times New Roman"/>
              </a:rPr>
              <a:t>Analysis of Variance (ANOVA)</a:t>
            </a:r>
            <a:endParaRPr lang="en-US" sz="1100">
              <a:effectLst/>
              <a:ea typeface="Calibri"/>
              <a:cs typeface="Times New Roman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effectLst/>
                <a:ea typeface="Calibri"/>
                <a:cs typeface="Times New Roman"/>
              </a:rPr>
              <a:t> </a:t>
            </a:r>
            <a:endParaRPr lang="en-US" sz="1100">
              <a:effectLst/>
              <a:ea typeface="Calibri"/>
              <a:cs typeface="Times New Roman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957706" y="4098800"/>
            <a:ext cx="1023620" cy="8982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000" b="1" dirty="0">
                <a:ea typeface="Calibri"/>
                <a:cs typeface="Times New Roman"/>
              </a:rPr>
              <a:t>Post-Hoc analysis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b="1" dirty="0" err="1">
                <a:solidFill>
                  <a:srgbClr val="FF0000"/>
                </a:solidFill>
                <a:effectLst/>
                <a:ea typeface="Calibri"/>
                <a:cs typeface="Times New Roman"/>
              </a:rPr>
              <a:t>Tukey</a:t>
            </a:r>
            <a:r>
              <a:rPr lang="en-US" sz="800" b="1" dirty="0">
                <a:solidFill>
                  <a:srgbClr val="FF0000"/>
                </a:solidFill>
                <a:effectLst/>
                <a:ea typeface="Calibri"/>
                <a:cs typeface="Times New Roman"/>
              </a:rPr>
              <a:t>-Kramer HSD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15185" y="3390499"/>
            <a:ext cx="870585" cy="5867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000" b="1" dirty="0">
                <a:effectLst/>
                <a:ea typeface="Calibri"/>
                <a:cs typeface="Times New Roman"/>
              </a:rPr>
              <a:t>One Way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000" b="1" dirty="0">
                <a:ea typeface="Calibri"/>
                <a:cs typeface="Times New Roman"/>
              </a:rPr>
              <a:t>Two Way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344545" y="1896343"/>
            <a:ext cx="1009015" cy="51752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effectLst/>
                <a:ea typeface="Calibri"/>
                <a:cs typeface="Times New Roman"/>
              </a:rPr>
              <a:t>Two Medians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411345" y="1896343"/>
            <a:ext cx="1370965" cy="51752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>
                <a:effectLst/>
                <a:ea typeface="Calibri"/>
                <a:cs typeface="Times New Roman"/>
              </a:rPr>
              <a:t>3 or more Medians</a:t>
            </a:r>
            <a:endParaRPr lang="en-US" sz="1100">
              <a:effectLst/>
              <a:ea typeface="Calibri"/>
              <a:cs typeface="Times New Roman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369310" y="2764388"/>
            <a:ext cx="1086485" cy="62039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effectLst/>
                <a:ea typeface="Calibri"/>
                <a:cs typeface="Times New Roman"/>
              </a:rPr>
              <a:t>Mann-Whitney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641850" y="2770103"/>
            <a:ext cx="1086485" cy="62039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effectLst/>
                <a:ea typeface="Calibri"/>
                <a:cs typeface="Times New Roman"/>
              </a:rPr>
              <a:t>Kruskal-Wallis</a:t>
            </a:r>
            <a:endParaRPr lang="en-US" sz="1100">
              <a:effectLst/>
              <a:ea typeface="Calibri"/>
              <a:cs typeface="Times New Roman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096125" y="1901520"/>
            <a:ext cx="1138555" cy="517525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effectLst/>
                <a:ea typeface="Calibri"/>
                <a:cs typeface="Times New Roman"/>
              </a:rPr>
              <a:t>Small Sample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effectLst/>
                <a:ea typeface="Calibri"/>
                <a:cs typeface="Times New Roman"/>
              </a:rPr>
              <a:t>(&lt;5)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856605" y="1896343"/>
            <a:ext cx="1172845" cy="66421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1">
                <a:effectLst/>
                <a:ea typeface="Calibri"/>
                <a:cs typeface="Times New Roman"/>
              </a:rPr>
              <a:t>Large Sample</a:t>
            </a:r>
            <a:endParaRPr lang="en-US" sz="1100">
              <a:effectLst/>
              <a:ea typeface="Calibri"/>
              <a:cs typeface="Times New Roman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>
                <a:effectLst/>
                <a:ea typeface="Calibri"/>
                <a:cs typeface="Times New Roman"/>
              </a:rPr>
              <a:t>(≥5)</a:t>
            </a:r>
            <a:endParaRPr lang="en-US" sz="1100">
              <a:effectLst/>
              <a:ea typeface="Calibri"/>
              <a:cs typeface="Times New Roman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06795" y="2767563"/>
            <a:ext cx="913765" cy="534035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effectLst/>
                <a:ea typeface="Calibri"/>
                <a:cs typeface="Times New Roman"/>
              </a:rPr>
              <a:t>Chi-Square (X2)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182484" y="2811378"/>
            <a:ext cx="965835" cy="47371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effectLst/>
                <a:ea typeface="Calibri"/>
                <a:cs typeface="Times New Roman"/>
              </a:rPr>
              <a:t>Fisher’s Exact</a:t>
            </a:r>
            <a:endParaRPr lang="en-US" sz="1100">
              <a:effectLst/>
              <a:ea typeface="Calibri"/>
              <a:cs typeface="Times New Roman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3295015" y="912093"/>
            <a:ext cx="0" cy="46145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5805170" y="912728"/>
            <a:ext cx="0" cy="46139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1388745" y="1731878"/>
            <a:ext cx="482600" cy="1644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044065" y="1731878"/>
            <a:ext cx="396240" cy="1638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47065" y="2051283"/>
            <a:ext cx="17145" cy="24237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664210" y="2051283"/>
            <a:ext cx="431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664210" y="4475078"/>
            <a:ext cx="12065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664210" y="2939648"/>
            <a:ext cx="120650" cy="171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1276985" y="3146658"/>
            <a:ext cx="0" cy="1377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2492375" y="2301473"/>
            <a:ext cx="8255" cy="3105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3173730" y="2939648"/>
            <a:ext cx="17145" cy="15347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2983230" y="3750543"/>
            <a:ext cx="18986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2983230" y="4475078"/>
            <a:ext cx="18986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3044190" y="2939013"/>
            <a:ext cx="1466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3959225" y="1731878"/>
            <a:ext cx="396240" cy="1638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4407535" y="1731878"/>
            <a:ext cx="491490" cy="1644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3846830" y="2413868"/>
            <a:ext cx="0" cy="3536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080635" y="2413868"/>
            <a:ext cx="0" cy="3530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6486525" y="1731878"/>
            <a:ext cx="335915" cy="1638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7020560" y="1731878"/>
            <a:ext cx="474980" cy="1206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6486525" y="2560553"/>
            <a:ext cx="0" cy="2063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7607935" y="2370688"/>
            <a:ext cx="0" cy="3619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949315" y="3564327"/>
            <a:ext cx="2285365" cy="68717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545454"/>
                </a:solidFill>
                <a:effectLst/>
                <a:latin typeface="Arial"/>
                <a:ea typeface="Calibri"/>
                <a:cs typeface="Times New Roman"/>
              </a:rPr>
              <a:t> </a:t>
            </a:r>
            <a:r>
              <a:rPr lang="en-US" sz="1400" b="1" dirty="0">
                <a:effectLst/>
                <a:ea typeface="Calibri"/>
                <a:cs typeface="Times New Roman"/>
              </a:rPr>
              <a:t>Comparing two Continuous variables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7457379" y="4257665"/>
            <a:ext cx="474980" cy="1206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7473395" y="4412922"/>
            <a:ext cx="1580470" cy="615769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effectLst/>
                <a:ea typeface="Calibri"/>
                <a:cs typeface="Times New Roman"/>
              </a:rPr>
              <a:t>Pearson’s Correlational Coefficient (</a:t>
            </a:r>
            <a:r>
              <a:rPr 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Times New Roman"/>
              </a:rPr>
              <a:t>r</a:t>
            </a:r>
            <a:r>
              <a:rPr lang="en-US" sz="1200" b="1" dirty="0">
                <a:effectLst/>
                <a:ea typeface="Calibri"/>
                <a:cs typeface="Times New Roman"/>
              </a:rPr>
              <a:t>)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5773442" y="4475078"/>
            <a:ext cx="1580470" cy="615769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200" b="1" dirty="0">
                <a:ea typeface="Calibri"/>
                <a:cs typeface="Times New Roman"/>
              </a:rPr>
              <a:t>Spearman's </a:t>
            </a:r>
            <a:r>
              <a:rPr lang="en-US" sz="1200" b="1" i="1" dirty="0">
                <a:solidFill>
                  <a:srgbClr val="FF0000"/>
                </a:solidFill>
                <a:ea typeface="Calibri"/>
                <a:cs typeface="Times New Roman"/>
              </a:rPr>
              <a:t>rho</a:t>
            </a:r>
            <a:r>
              <a:rPr lang="en-US" sz="1200" b="1" dirty="0">
                <a:ea typeface="Calibri"/>
                <a:cs typeface="Times New Roman"/>
              </a:rPr>
              <a:t> Coefficient (ORDINAL)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6541733" y="4264322"/>
            <a:ext cx="335915" cy="1638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654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12648" y="4767263"/>
            <a:ext cx="6708042" cy="274320"/>
          </a:xfrm>
        </p:spPr>
        <p:txBody>
          <a:bodyPr/>
          <a:lstStyle/>
          <a:p>
            <a:r>
              <a:rPr lang="en-IN" b="1" cap="all" dirty="0"/>
              <a:t>  FELIX EMEKA ANYIAM | </a:t>
            </a:r>
            <a:r>
              <a:rPr lang="pt-PT" b="1" dirty="0">
                <a:sym typeface="Webdings"/>
              </a:rPr>
              <a:t></a:t>
            </a:r>
            <a:r>
              <a:rPr lang="pt-PT" b="1" dirty="0"/>
              <a:t>  </a:t>
            </a:r>
            <a:r>
              <a:rPr lang="en-US" b="1" u="sng" dirty="0">
                <a:hlinkClick r:id="rId2"/>
              </a:rPr>
              <a:t>http://orcid.org/0000-0003-2774-7406</a:t>
            </a:r>
            <a:r>
              <a:rPr lang="en-US" b="1" u="sng" dirty="0"/>
              <a:t> </a:t>
            </a:r>
            <a:endParaRPr lang="en-IN" b="1" cap="all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4561" y="-136525"/>
            <a:ext cx="10231235" cy="5379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83446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8818</TotalTime>
  <Words>323</Words>
  <Application>Microsoft Office PowerPoint</Application>
  <PresentationFormat>On-screen Show (16:9)</PresentationFormat>
  <Paragraphs>64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Bookman Old Style</vt:lpstr>
      <vt:lpstr>Calibri</vt:lpstr>
      <vt:lpstr>Gill Sans MT</vt:lpstr>
      <vt:lpstr>Wingdings</vt:lpstr>
      <vt:lpstr>Wingdings 3</vt:lpstr>
      <vt:lpstr>Origin</vt:lpstr>
      <vt:lpstr>Epi-Info Essentials: Simple, Powerful Tool for Smarter Data 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Felix Emeka Anyiam</cp:lastModifiedBy>
  <cp:revision>394</cp:revision>
  <dcterms:created xsi:type="dcterms:W3CDTF">2013-08-21T19:17:07Z</dcterms:created>
  <dcterms:modified xsi:type="dcterms:W3CDTF">2025-11-28T20:08:21Z</dcterms:modified>
</cp:coreProperties>
</file>