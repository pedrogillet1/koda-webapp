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77" r:id="rId2"/>
    <p:sldId id="278" r:id="rId3"/>
    <p:sldId id="280" r:id="rId4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gure/Table(원본)" id="{7612446E-03E9-4980-AD38-E50D4BB32BCB}">
          <p14:sldIdLst>
            <p14:sldId id="277"/>
            <p14:sldId id="278"/>
            <p14:sldId id="280"/>
          </p14:sldIdLst>
        </p14:section>
        <p14:section name="Supple(원본)" id="{71C5AB3E-8BE4-44BF-869B-AB0776CE3D6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185" userDrawn="1">
          <p15:clr>
            <a:srgbClr val="A4A3A4"/>
          </p15:clr>
        </p15:guide>
        <p15:guide id="2" pos="120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3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19" autoAdjust="0"/>
    <p:restoredTop sz="96366" autoAdjust="0"/>
  </p:normalViewPr>
  <p:slideViewPr>
    <p:cSldViewPr snapToGrid="0">
      <p:cViewPr varScale="1">
        <p:scale>
          <a:sx n="112" d="100"/>
          <a:sy n="112" d="100"/>
        </p:scale>
        <p:origin x="224" y="320"/>
      </p:cViewPr>
      <p:guideLst>
        <p:guide orient="horz" pos="1185"/>
        <p:guide pos="1209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DF5D9-8EB0-4234-B201-B21EC7145440}" type="datetimeFigureOut">
              <a:rPr lang="ko-KR" altLang="en-US" smtClean="0"/>
              <a:t>2025. 11. 29.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AD6CB-E83C-4D8A-97E0-EF7213DBA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33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6315-FC42-4911-9D25-D56FA762D024}" type="datetimeFigureOut">
              <a:rPr lang="ko-KR" altLang="en-US" smtClean="0"/>
              <a:t>2025. 11. 29.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44BD9-A6E5-4526-93A8-EB46A03999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115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6315-FC42-4911-9D25-D56FA762D024}" type="datetimeFigureOut">
              <a:rPr lang="ko-KR" altLang="en-US" smtClean="0"/>
              <a:t>2025. 11. 29.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44BD9-A6E5-4526-93A8-EB46A03999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672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6315-FC42-4911-9D25-D56FA762D024}" type="datetimeFigureOut">
              <a:rPr lang="ko-KR" altLang="en-US" smtClean="0"/>
              <a:t>2025. 11. 29.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44BD9-A6E5-4526-93A8-EB46A03999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051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6315-FC42-4911-9D25-D56FA762D024}" type="datetimeFigureOut">
              <a:rPr lang="ko-KR" altLang="en-US" smtClean="0"/>
              <a:t>2025. 11. 29.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44BD9-A6E5-4526-93A8-EB46A03999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02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6315-FC42-4911-9D25-D56FA762D024}" type="datetimeFigureOut">
              <a:rPr lang="ko-KR" altLang="en-US" smtClean="0"/>
              <a:t>2025. 11. 29.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44BD9-A6E5-4526-93A8-EB46A03999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336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6315-FC42-4911-9D25-D56FA762D024}" type="datetimeFigureOut">
              <a:rPr lang="ko-KR" altLang="en-US" smtClean="0"/>
              <a:t>2025. 11. 29.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44BD9-A6E5-4526-93A8-EB46A03999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25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6315-FC42-4911-9D25-D56FA762D024}" type="datetimeFigureOut">
              <a:rPr lang="ko-KR" altLang="en-US" smtClean="0"/>
              <a:t>2025. 11. 29.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44BD9-A6E5-4526-93A8-EB46A03999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837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6315-FC42-4911-9D25-D56FA762D024}" type="datetimeFigureOut">
              <a:rPr lang="ko-KR" altLang="en-US" smtClean="0"/>
              <a:t>2025. 11. 29.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44BD9-A6E5-4526-93A8-EB46A03999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281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6315-FC42-4911-9D25-D56FA762D024}" type="datetimeFigureOut">
              <a:rPr lang="ko-KR" altLang="en-US" smtClean="0"/>
              <a:t>2025. 11. 29.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44BD9-A6E5-4526-93A8-EB46A03999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134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6315-FC42-4911-9D25-D56FA762D024}" type="datetimeFigureOut">
              <a:rPr lang="ko-KR" altLang="en-US" smtClean="0"/>
              <a:t>2025. 11. 29.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44BD9-A6E5-4526-93A8-EB46A03999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698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6315-FC42-4911-9D25-D56FA762D024}" type="datetimeFigureOut">
              <a:rPr lang="ko-KR" altLang="en-US" smtClean="0"/>
              <a:t>2025. 11. 29.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44BD9-A6E5-4526-93A8-EB46A03999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138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76315-FC42-4911-9D25-D56FA762D024}" type="datetimeFigureOut">
              <a:rPr lang="ko-KR" altLang="en-US" smtClean="0"/>
              <a:t>2025. 11. 29.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44BD9-A6E5-4526-93A8-EB46A03999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348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669" y="1716163"/>
            <a:ext cx="3868897" cy="329402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27" y="1716163"/>
            <a:ext cx="3722542" cy="4692658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4380"/>
              </p:ext>
            </p:extLst>
          </p:nvPr>
        </p:nvGraphicFramePr>
        <p:xfrm>
          <a:off x="683995" y="843129"/>
          <a:ext cx="11006884" cy="777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2618">
                  <a:extLst>
                    <a:ext uri="{9D8B030D-6E8A-4147-A177-3AD203B41FA5}">
                      <a16:colId xmlns:a16="http://schemas.microsoft.com/office/drawing/2014/main" val="4126409431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331176519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810722989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242654630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94970301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876716762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1650859012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1016250802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333044644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2800880544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3544190142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4089239057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267850477"/>
                    </a:ext>
                  </a:extLst>
                </a:gridCol>
                <a:gridCol w="567898">
                  <a:extLst>
                    <a:ext uri="{9D8B030D-6E8A-4147-A177-3AD203B41FA5}">
                      <a16:colId xmlns:a16="http://schemas.microsoft.com/office/drawing/2014/main" val="4147853456"/>
                    </a:ext>
                  </a:extLst>
                </a:gridCol>
              </a:tblGrid>
              <a:tr h="18621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EpCAM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/CK+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donor (n=5)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Patients (n=12)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2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#02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#03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#04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#05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#02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#03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#04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#05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#06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#07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#08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#09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#12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CTC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926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3995" y="439558"/>
            <a:ext cx="1006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Results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29" y="48362"/>
            <a:ext cx="976549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 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26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1F32D58-FEA3-381C-8BCF-0D596DF00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969233"/>
              </p:ext>
            </p:extLst>
          </p:nvPr>
        </p:nvGraphicFramePr>
        <p:xfrm>
          <a:off x="587154" y="802065"/>
          <a:ext cx="10386199" cy="127556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07375">
                  <a:extLst>
                    <a:ext uri="{9D8B030D-6E8A-4147-A177-3AD203B41FA5}">
                      <a16:colId xmlns:a16="http://schemas.microsoft.com/office/drawing/2014/main" val="3711111536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4048933838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2523445156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2737459966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3020361213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479145114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2483576433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2252662147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2672381090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1885686459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4084265046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3980306746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1310042373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855746489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4027083967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735451460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3095702966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1057126346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2839623671"/>
                    </a:ext>
                  </a:extLst>
                </a:gridCol>
                <a:gridCol w="483096">
                  <a:extLst>
                    <a:ext uri="{9D8B030D-6E8A-4147-A177-3AD203B41FA5}">
                      <a16:colId xmlns:a16="http://schemas.microsoft.com/office/drawing/2014/main" val="3327426840"/>
                    </a:ext>
                  </a:extLst>
                </a:gridCol>
              </a:tblGrid>
              <a:tr h="156133">
                <a:tc gridSpan="20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ddPCR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490309"/>
                  </a:ext>
                </a:extLst>
              </a:tr>
              <a:tr h="156133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cs-CZ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Healthy donor</a:t>
                      </a:r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  <a:buNone/>
                      </a:pPr>
                      <a:r>
                        <a:rPr lang="cs-CZ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</a:t>
                      </a:r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707525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number of  progress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cs-CZ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NTC</a:t>
                      </a:r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cs-CZ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22RV1</a:t>
                      </a:r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#09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586115"/>
                  </a:ext>
                </a:extLst>
              </a:tr>
              <a:tr h="179155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24902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52" marR="3652" marT="3652" marB="0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06969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7154" y="494288"/>
            <a:ext cx="1348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ddPCR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9" y="48362"/>
            <a:ext cx="976549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 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42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CA51C-A6A0-8B8E-A363-17394E99B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0E7787-6919-5AE5-1A45-EEB16F2E44E4}"/>
              </a:ext>
            </a:extLst>
          </p:cNvPr>
          <p:cNvSpPr txBox="1"/>
          <p:nvPr/>
        </p:nvSpPr>
        <p:spPr>
          <a:xfrm>
            <a:off x="587154" y="494288"/>
            <a:ext cx="29658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Data and Laboratory Data  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98E4C-0765-F8C9-70EA-836C0EEBBF96}"/>
              </a:ext>
            </a:extLst>
          </p:cNvPr>
          <p:cNvSpPr txBox="1"/>
          <p:nvPr/>
        </p:nvSpPr>
        <p:spPr>
          <a:xfrm>
            <a:off x="87729" y="48362"/>
            <a:ext cx="976549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 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D43B1B6-4C0B-3CEC-AD91-4AD5C2316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414812"/>
              </p:ext>
            </p:extLst>
          </p:nvPr>
        </p:nvGraphicFramePr>
        <p:xfrm>
          <a:off x="1219200" y="1280160"/>
          <a:ext cx="10043159" cy="42824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2358">
                  <a:extLst>
                    <a:ext uri="{9D8B030D-6E8A-4147-A177-3AD203B41FA5}">
                      <a16:colId xmlns:a16="http://schemas.microsoft.com/office/drawing/2014/main" val="3371940136"/>
                    </a:ext>
                  </a:extLst>
                </a:gridCol>
                <a:gridCol w="823584">
                  <a:extLst>
                    <a:ext uri="{9D8B030D-6E8A-4147-A177-3AD203B41FA5}">
                      <a16:colId xmlns:a16="http://schemas.microsoft.com/office/drawing/2014/main" val="304702994"/>
                    </a:ext>
                  </a:extLst>
                </a:gridCol>
                <a:gridCol w="1204874">
                  <a:extLst>
                    <a:ext uri="{9D8B030D-6E8A-4147-A177-3AD203B41FA5}">
                      <a16:colId xmlns:a16="http://schemas.microsoft.com/office/drawing/2014/main" val="326357723"/>
                    </a:ext>
                  </a:extLst>
                </a:gridCol>
                <a:gridCol w="1204874">
                  <a:extLst>
                    <a:ext uri="{9D8B030D-6E8A-4147-A177-3AD203B41FA5}">
                      <a16:colId xmlns:a16="http://schemas.microsoft.com/office/drawing/2014/main" val="3663631370"/>
                    </a:ext>
                  </a:extLst>
                </a:gridCol>
                <a:gridCol w="1830188">
                  <a:extLst>
                    <a:ext uri="{9D8B030D-6E8A-4147-A177-3AD203B41FA5}">
                      <a16:colId xmlns:a16="http://schemas.microsoft.com/office/drawing/2014/main" val="3138931047"/>
                    </a:ext>
                  </a:extLst>
                </a:gridCol>
                <a:gridCol w="720636">
                  <a:extLst>
                    <a:ext uri="{9D8B030D-6E8A-4147-A177-3AD203B41FA5}">
                      <a16:colId xmlns:a16="http://schemas.microsoft.com/office/drawing/2014/main" val="3675742403"/>
                    </a:ext>
                  </a:extLst>
                </a:gridCol>
                <a:gridCol w="930346">
                  <a:extLst>
                    <a:ext uri="{9D8B030D-6E8A-4147-A177-3AD203B41FA5}">
                      <a16:colId xmlns:a16="http://schemas.microsoft.com/office/drawing/2014/main" val="491612986"/>
                    </a:ext>
                  </a:extLst>
                </a:gridCol>
                <a:gridCol w="732076">
                  <a:extLst>
                    <a:ext uri="{9D8B030D-6E8A-4147-A177-3AD203B41FA5}">
                      <a16:colId xmlns:a16="http://schemas.microsoft.com/office/drawing/2014/main" val="3660319558"/>
                    </a:ext>
                  </a:extLst>
                </a:gridCol>
                <a:gridCol w="732076">
                  <a:extLst>
                    <a:ext uri="{9D8B030D-6E8A-4147-A177-3AD203B41FA5}">
                      <a16:colId xmlns:a16="http://schemas.microsoft.com/office/drawing/2014/main" val="3946284487"/>
                    </a:ext>
                  </a:extLst>
                </a:gridCol>
                <a:gridCol w="812147">
                  <a:extLst>
                    <a:ext uri="{9D8B030D-6E8A-4147-A177-3AD203B41FA5}">
                      <a16:colId xmlns:a16="http://schemas.microsoft.com/office/drawing/2014/main" val="3504310127"/>
                    </a:ext>
                  </a:extLst>
                </a:gridCol>
              </a:tblGrid>
              <a:tr h="6344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ARI effect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PSA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6mo PSA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 period  from meta (mo)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CTC_No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CTC10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ddPCR1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ddPCR2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ddpcr_avg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4628135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pilot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170.00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156.00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144.00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125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1217490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pilot 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1460.00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1.18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6.00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03734944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pilot 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451.44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0.01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6.00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1.5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09341399"/>
                  </a:ext>
                </a:extLst>
              </a:tr>
              <a:tr h="3172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pilot 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900.00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22.00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1921292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pilot 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74.70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299.00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12.00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926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2.5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9750543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pilot 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161.00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653.00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30.00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0250354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pilot 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20.30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21.40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32.00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49565051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pilot 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0.69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2.97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51.00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260360"/>
                  </a:ext>
                </a:extLst>
              </a:tr>
              <a:tr h="3172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pilot 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587.00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39.00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71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1.5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5732960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pilot 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400.00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68.00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22.00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58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203503"/>
                  </a:ext>
                </a:extLst>
              </a:tr>
              <a:tr h="337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pilot 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742.00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&quot;맑은 고딕&quot;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0.64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&quot;맑은 고딕&quot;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&quot;맑은 고딕&quot;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90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3777524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pilot 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95.70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226.00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32.00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11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09794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546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2793</TotalTime>
  <Words>321</Words>
  <Application>Microsoft Macintosh PowerPoint</Application>
  <PresentationFormat>와이드스크린</PresentationFormat>
  <Paragraphs>237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"맑은 고딕"</vt:lpstr>
      <vt:lpstr>맑은 고딕</vt:lpstr>
      <vt:lpstr>Arial</vt:lpstr>
      <vt:lpstr>Calibri</vt:lpstr>
      <vt:lpstr>Cambria</vt:lpstr>
      <vt:lpstr>Times New Roman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CYTOGEN-JHLEE</dc:creator>
  <cp:lastModifiedBy>윤현석(의료원)</cp:lastModifiedBy>
  <cp:revision>179</cp:revision>
  <cp:lastPrinted>2025-11-28T15:53:06Z</cp:lastPrinted>
  <dcterms:created xsi:type="dcterms:W3CDTF">2025-10-20T01:38:45Z</dcterms:created>
  <dcterms:modified xsi:type="dcterms:W3CDTF">2025-11-28T16:15:37Z</dcterms:modified>
</cp:coreProperties>
</file>